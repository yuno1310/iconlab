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19c9ebc781430d" /><Relationship Type="http://schemas.openxmlformats.org/officeDocument/2006/relationships/extended-properties" Target="/docProps/app.xml" Id="Rca376468ca13491d" /><Relationship Type="http://schemas.openxmlformats.org/officeDocument/2006/relationships/officeDocument" Target="/ppt/presentation.xml" Id="R3846eed5bbca43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0587c1d80247ec"/>
  </p:sldMasterIdLst>
  <p:notesMasterIdLst>
    <p:notesMasterId xmlns:r="http://schemas.openxmlformats.org/officeDocument/2006/relationships" r:id="R57681055449f4cdf"/>
  </p:notesMasterIdLst>
  <p:sldIdLst>
    <p:sldId xmlns:r="http://schemas.openxmlformats.org/officeDocument/2006/relationships" id="256" r:id="Re4023cecee4f40dc"/>
    <p:sldId xmlns:r="http://schemas.openxmlformats.org/officeDocument/2006/relationships" id="257" r:id="R802988ff5c7944c7"/>
    <p:sldId xmlns:r="http://schemas.openxmlformats.org/officeDocument/2006/relationships" id="258" r:id="R4ec6877422c34e1f"/>
    <p:sldId xmlns:r="http://schemas.openxmlformats.org/officeDocument/2006/relationships" id="259" r:id="Rba25afb5f55f42a3"/>
    <p:sldId xmlns:r="http://schemas.openxmlformats.org/officeDocument/2006/relationships" id="260" r:id="Rfdf1c2eb23194cb5"/>
    <p:sldId xmlns:r="http://schemas.openxmlformats.org/officeDocument/2006/relationships" id="261" r:id="R1daacfc2332944a9"/>
    <p:sldId xmlns:r="http://schemas.openxmlformats.org/officeDocument/2006/relationships" id="262" r:id="Ra737a2d6eb594a17"/>
    <p:sldId xmlns:r="http://schemas.openxmlformats.org/officeDocument/2006/relationships" id="263" r:id="Rb92e6503bf5c48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aec03b8fc3487b" /><Relationship Type="http://schemas.openxmlformats.org/officeDocument/2006/relationships/slideMaster" Target="/ppt/slideMasters/slideMaster1.xml" Id="Rca0587c1d80247ec" /><Relationship Type="http://schemas.openxmlformats.org/officeDocument/2006/relationships/notesMaster" Target="/ppt/notesMasters/notesMaster1.xml" Id="R57681055449f4cdf" /><Relationship Type="http://schemas.openxmlformats.org/officeDocument/2006/relationships/presProps" Target="/ppt/presProps.xml" Id="Re272b8d227d042ab" /><Relationship Type="http://schemas.openxmlformats.org/officeDocument/2006/relationships/viewProps" Target="/ppt/viewProps.xml" Id="R498752fb94824237" /><Relationship Type="http://schemas.openxmlformats.org/officeDocument/2006/relationships/tableStyles" Target="/ppt/tableStyles.xml" Id="Rd36c46c980e348cf" /><Relationship Type="http://schemas.openxmlformats.org/officeDocument/2006/relationships/slide" Target="/ppt/slides/slide1.xml" Id="Re4023cecee4f40dc" /><Relationship Type="http://schemas.openxmlformats.org/officeDocument/2006/relationships/slide" Target="/ppt/slides/slide2.xml" Id="R802988ff5c7944c7" /><Relationship Type="http://schemas.openxmlformats.org/officeDocument/2006/relationships/slide" Target="/ppt/slides/slide3.xml" Id="R4ec6877422c34e1f" /><Relationship Type="http://schemas.openxmlformats.org/officeDocument/2006/relationships/slide" Target="/ppt/slides/slide4.xml" Id="Rba25afb5f55f42a3" /><Relationship Type="http://schemas.openxmlformats.org/officeDocument/2006/relationships/slide" Target="/ppt/slides/slide5.xml" Id="Rfdf1c2eb23194cb5" /><Relationship Type="http://schemas.openxmlformats.org/officeDocument/2006/relationships/slide" Target="/ppt/slides/slide6.xml" Id="R1daacfc2332944a9" /><Relationship Type="http://schemas.openxmlformats.org/officeDocument/2006/relationships/slide" Target="/ppt/slides/slide7.xml" Id="Ra737a2d6eb594a17" /><Relationship Type="http://schemas.openxmlformats.org/officeDocument/2006/relationships/slide" Target="/ppt/slides/slide8.xml" Id="Rb92e6503bf5c48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34d3e444a542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0db66e5d764df8" /><Relationship Type="http://schemas.openxmlformats.org/officeDocument/2006/relationships/notesMaster" Target="/ppt/notesMasters/notesMaster1.xml" Id="R694c10f51a4e41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a9917e13864f3b" /><Relationship Type="http://schemas.openxmlformats.org/officeDocument/2006/relationships/notesMaster" Target="/ppt/notesMasters/notesMaster1.xml" Id="R50e40a7b524445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b4e673400648cd" /><Relationship Type="http://schemas.openxmlformats.org/officeDocument/2006/relationships/notesMaster" Target="/ppt/notesMasters/notesMaster1.xml" Id="R315db7ecad9e49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547941229c407a" /><Relationship Type="http://schemas.openxmlformats.org/officeDocument/2006/relationships/notesMaster" Target="/ppt/notesMasters/notesMaster1.xml" Id="Re57126c0a08b43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241d6d71254349" /><Relationship Type="http://schemas.openxmlformats.org/officeDocument/2006/relationships/notesMaster" Target="/ppt/notesMasters/notesMaster1.xml" Id="R02421258458a48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370307eba54d2e" /><Relationship Type="http://schemas.openxmlformats.org/officeDocument/2006/relationships/notesMaster" Target="/ppt/notesMasters/notesMaster1.xml" Id="Rffd7582acb2345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0b002517a9473b" /><Relationship Type="http://schemas.openxmlformats.org/officeDocument/2006/relationships/notesMaster" Target="/ppt/notesMasters/notesMaster1.xml" Id="R8a3ff2d4bdaf4a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d39aa3e3db4dc4" /><Relationship Type="http://schemas.openxmlformats.org/officeDocument/2006/relationships/notesMaster" Target="/ppt/notesMasters/notesMaster1.xml" Id="R99a8b35907d742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ce8326b7cb40c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5f189293e54ce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fa44c280ff43c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24bfe2d5b84d8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0e50373e004ac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4ec77c13c44de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18a61bab4042e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39d2c2083545e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877389c302425d" /><Relationship Type="http://schemas.openxmlformats.org/officeDocument/2006/relationships/image" Target="/ppt/media/image.png" Id="Re8e5e64ad6204f5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5376d3cb77496d" /><Relationship Type="http://schemas.openxmlformats.org/officeDocument/2006/relationships/image" Target="/ppt/media/image2.png" Id="R1950ad0016404c3b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e8e5e64ad6204f5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1950ad0016404c3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abbdc1addd444e" /><Relationship Type="http://schemas.openxmlformats.org/officeDocument/2006/relationships/slideLayout" Target="/ppt/slideLayouts/slideLayout1.xml" Id="R4235a677de44412a" /><Relationship Type="http://schemas.openxmlformats.org/officeDocument/2006/relationships/slideLayout" Target="/ppt/slideLayouts/slideLayout2.xml" Id="R4061160b45984722" /><Relationship Type="http://schemas.openxmlformats.org/officeDocument/2006/relationships/slideLayout" Target="/ppt/slideLayouts/slideLayout3.xml" Id="R34a236dfed8546c5" /><Relationship Type="http://schemas.openxmlformats.org/officeDocument/2006/relationships/slideLayout" Target="/ppt/slideLayouts/slideLayout4.xml" Id="Rf472587d343143d2" /><Relationship Type="http://schemas.openxmlformats.org/officeDocument/2006/relationships/slideLayout" Target="/ppt/slideLayouts/slideLayout5.xml" Id="R976e27ffe95342a3" /><Relationship Type="http://schemas.openxmlformats.org/officeDocument/2006/relationships/slideLayout" Target="/ppt/slideLayouts/slideLayout6.xml" Id="R22a87a3c3d2e49f3" /><Relationship Type="http://schemas.openxmlformats.org/officeDocument/2006/relationships/slideLayout" Target="/ppt/slideLayouts/slideLayout7.xml" Id="R33559ebd0d454c61" /><Relationship Type="http://schemas.openxmlformats.org/officeDocument/2006/relationships/slideLayout" Target="/ppt/slideLayouts/slideLayout8.xml" Id="Rf69a8acb18c145b0" /><Relationship Type="http://schemas.openxmlformats.org/officeDocument/2006/relationships/slideLayout" Target="/ppt/slideLayouts/slideLayout9.xml" Id="Rbbfbb524a3de4744" /><Relationship Type="http://schemas.openxmlformats.org/officeDocument/2006/relationships/slideLayout" Target="/ppt/slideLayouts/slideLayout10.xml" Id="R0e811e83a45c467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35a677de44412a"/>
    <p:sldLayoutId xmlns:r="http://schemas.openxmlformats.org/officeDocument/2006/relationships" id="2147483650" r:id="R4061160b45984722"/>
    <p:sldLayoutId xmlns:r="http://schemas.openxmlformats.org/officeDocument/2006/relationships" id="2147483651" r:id="R34a236dfed8546c5"/>
    <p:sldLayoutId xmlns:r="http://schemas.openxmlformats.org/officeDocument/2006/relationships" id="2147483652" r:id="Rf472587d343143d2"/>
    <p:sldLayoutId xmlns:r="http://schemas.openxmlformats.org/officeDocument/2006/relationships" id="2147483653" r:id="R976e27ffe95342a3"/>
    <p:sldLayoutId xmlns:r="http://schemas.openxmlformats.org/officeDocument/2006/relationships" id="2147483654" r:id="R22a87a3c3d2e49f3"/>
    <p:sldLayoutId xmlns:r="http://schemas.openxmlformats.org/officeDocument/2006/relationships" id="2147483655" r:id="R33559ebd0d454c61"/>
    <p:sldLayoutId xmlns:r="http://schemas.openxmlformats.org/officeDocument/2006/relationships" id="2147483656" r:id="Rf69a8acb18c145b0"/>
    <p:sldLayoutId xmlns:r="http://schemas.openxmlformats.org/officeDocument/2006/relationships" id="2147483657" r:id="Rbbfbb524a3de4744"/>
    <p:sldLayoutId xmlns:r="http://schemas.openxmlformats.org/officeDocument/2006/relationships" id="2147483658" r:id="R0e811e83a45c467b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1f4ce66ee4633" /><Relationship Type="http://schemas.openxmlformats.org/officeDocument/2006/relationships/notesSlide" Target="/ppt/notesSlides/notesSlide1.xml" Id="R80ffc3f1bf6a4c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2c84d156174fd6" /><Relationship Type="http://schemas.openxmlformats.org/officeDocument/2006/relationships/notesSlide" Target="/ppt/notesSlides/notesSlide2.xml" Id="R36bc4edb3b944f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ad456dc41744940" /><Relationship Type="http://schemas.openxmlformats.org/officeDocument/2006/relationships/notesSlide" Target="/ppt/notesSlides/notesSlide3.xml" Id="R0e5b91fe26fd44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06c995182ea4217" /><Relationship Type="http://schemas.openxmlformats.org/officeDocument/2006/relationships/notesSlide" Target="/ppt/notesSlides/notesSlide4.xml" Id="Rb4225f3673fe45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b78b45767e41a3" /><Relationship Type="http://schemas.openxmlformats.org/officeDocument/2006/relationships/notesSlide" Target="/ppt/notesSlides/notesSlide5.xml" Id="Rac9ab354a95544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7d6c0bee0d94ac3" /><Relationship Type="http://schemas.openxmlformats.org/officeDocument/2006/relationships/notesSlide" Target="/ppt/notesSlides/notesSlide6.xml" Id="Rfdf401470ef541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047c43fda6490c" /><Relationship Type="http://schemas.openxmlformats.org/officeDocument/2006/relationships/notesSlide" Target="/ppt/notesSlides/notesSlide7.xml" Id="Radaf001eea6343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e44f57a350415e" /><Relationship Type="http://schemas.openxmlformats.org/officeDocument/2006/relationships/image" Target="/ppt/media/image3.png" Id="R2b5f9a7f16cd48ed" /><Relationship Type="http://schemas.openxmlformats.org/officeDocument/2006/relationships/notesSlide" Target="/ppt/notesSlides/notesSlide8.xml" Id="R9e131db4b9454609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85074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Evidence lab</a:t>
            </a:r>
          </a:p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Retrospective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170707"/>
            <a:ext cx="3568700" cy="6477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Evidence date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14 September 2026</a:t>
            </a:r>
          </a:p>
        </p:txBody>
      </p:sp>
      <p:sp>
        <p:nvSpPr>
          <p:cNvPr id="2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789" y="5170707"/>
            <a:ext cx="3568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Track D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Local evaluation project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28" y="623595"/>
            <a:ext cx="319923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2026</a:t>
            </a:r>
          </a:p>
        </p:txBody>
      </p:sp>
      <p:sp>
        <p:nvSpPr>
          <p:cNvPr id="7" name="Subtitle 4">
            <a:extLst xmlns:a="http://schemas.openxmlformats.org/drawingml/2006/main"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3595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Harbor Devices · fictional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A06F47B5-BBD7-44B3-8C06-14AE514E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" y="374574"/>
            <a:ext cx="114229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7A8CA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FDA44ED-2B2F-C105-7D7D-E4658177E04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Requesting JSON did not guarantee a valid schema from the small model. The failed initial run remains available.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Recovering a source ID did not guarantee its evidence was intact. Naive chunks sometimes cut the useful sentence.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ABCF34BB-5640-4672-FD7F-6F84F74645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What the build revealed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C46137E5-AEE5-3117-B65E-F6CB8896FBD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78194EC-C78C-2EFE-6956-F359C5D3CE6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598689-54C9-18A7-3A19-ED76AA08988F}" type="slidenum">
              <a:rPr sz="11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FBD9FB5-CEB1-DE74-508A-B8814A28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Assumptions that failed</a:t>
            </a:r>
          </a:p>
        </p:txBody>
      </p:sp>
      <p:sp>
        <p:nvSpPr>
          <p:cNvPr id="9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47231-C2F2-D9AD-E93B-483C88B8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29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corpus and golden set were jointly authored. This is a development benchmark with correlated wording.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rubric can accept misleading extra claims and reject correct paraphrases. Human calibration and unseen cases are still required.</a:t>
            </a:r>
          </a:p>
        </p:txBody>
      </p:sp>
      <p:sp>
        <p:nvSpPr>
          <p:cNvPr id="10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A8EF0B-1ADC-C26F-1C3D-74146720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Limits of the method</a:t>
            </a:r>
          </a:p>
        </p:txBody>
      </p:sp>
    </p:spTree>
    <p:extLst>
      <p:ext uri="{BB962C8B-B14F-4D97-AF65-F5344CB8AC3E}">
        <p14:creationId xmlns:p14="http://schemas.microsoft.com/office/powerpoint/2010/main" val="1933057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Simple baseline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95-character chunks, overlap ranking, top two excerpts, no refusal guard. Easy to explain and deliberately weak.</a:t>
            </a:r>
            <a:endParaRPr sz="18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Improved retrieval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Paragraph chunks, IDF reranking, family-level version pruning and query coverage checks. Lexical matching still limits generalization.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Human boundary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 business writes. Source and model outputs are untrusted. Local process identity needs replacement before multi-user deployment.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Architecture and trade-offs</a:t>
            </a:r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158289AD-1712-2CAF-28F8-E7467196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96192"/>
            <a:ext cx="11404599" cy="12264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Generated Markdown feeds a Python retrieval step and local Ollama generation. Every run persists observations for Langfuse. A separate MCP stdio process exposes synthetic case reads.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DA247B-DA8D-C673-F4EB-29EA73D172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 sz="1100"/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FB0F357B-0D8A-9B45-94C6-994BA1F9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384301"/>
            <a:ext cx="11404599" cy="231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spc="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OWNED LOCAL WORKFLOW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2377079-BCC4-2661-2A12-E4395F1ED5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39689"/>
            <a:ext cx="5537200" cy="141136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50 questions across five categories.</a:t>
            </a:r>
          </a:p>
          <a:p xmlns:a="http://schemas.openxmlformats.org/drawingml/2006/main">
            <a:pPr lv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Expected answers and source IDs.</a:t>
            </a:r>
          </a:p>
          <a:p xmlns:a="http://schemas.openxmlformats.org/drawingml/2006/main">
            <a:pPr lv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Ten must-refuse cases.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C167C81-957E-4EDD-97F6-7EF86B8F4A0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239689"/>
            <a:ext cx="5537200" cy="141136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Baseline: 30/50 retrieval, 15/50 answers.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Improved: 50/50 retrieval, 38/50 answers.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Errors remain failed answers.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BC1ACDB-02B5-99AA-385B-D8D9B44C28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10402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Validation evidence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9710401-0DB3-D5DB-AAFF-832641C025B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571B5B5-6269-DE95-4939-B738B6B6AC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FD6AB9A-5F9E-5F59-51AB-3C8734130965}" type="slidenum">
              <a:rPr sz="11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2CF1976-C150-A891-2CEC-BE355693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80518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DATASET</a:t>
            </a: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A0FCF870-B47E-94BD-EEDF-DD8F2A59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180518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MODEL RUNS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F4D1C9BF-63F4-2888-893B-5F7ECE54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468539"/>
            <a:ext cx="5537200" cy="1411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10 regression tests pass.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1,000-call quota exercise.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Cross-owner read denied after fix.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708BAE86-327C-6895-AEA3-FE9F89FD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468539"/>
            <a:ext cx="5537200" cy="1411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100 final model traces exported.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Generation p50 744 ms, p95 1977 ms.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Read from Langfuse observations.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B8880891-2DF5-4AB7-C919-6164AD9A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403403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SECURITY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144A4BC-3976-C678-219A-2173C82E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403403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OBSERVABILITY</a:t>
            </a:r>
          </a:p>
        </p:txBody>
      </p:sp>
    </p:spTree>
    <p:extLst>
      <p:ext uri="{BB962C8B-B14F-4D97-AF65-F5344CB8AC3E}">
        <p14:creationId xmlns:p14="http://schemas.microsoft.com/office/powerpoint/2010/main" val="24749420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What the build revealed in practice</a:t>
            </a:r>
            <a:endParaRPr/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Pinned runtime and model digest recorded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Reproducibility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100 final traces read back from Langfuse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Observability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Ownership and request limits tested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Security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Second-person reproduction still pending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Human gate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Review focus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Temperature zero did not produce identical paired results across reruns: preserve every run.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Personalize this retrospective and contribute the final section to the team deck.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8F6686A-B9AA-33C7-DC98-7A7FF4AC876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405DDE8-F6E5-161D-9B9B-71916FAAD39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5BBDF9FE-11B3-D661-6C73-AEF8F8362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11838" cy="5195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Failure, limits and next steps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1D80037-C168-FBF2-B54D-589D4849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0E7C2EE-1AC5-1253-8D6A-BFE2CCAB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F07ABEF-E57C-A069-52DA-DAB3B410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CD9BC49D-3C96-EBE3-CDD9-750D79584B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0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Observed failure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Temperature zero did not produce identical paired results across reruns: preserve every run.</a:t>
            </a:r>
            <a:endParaRPr sz="1600"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7721E237-CC1B-11C2-06F2-0FF62F5271D5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Evaluation limit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Source-ID and keyword checks miss semantic errors. The development set shares wording with the corpus.</a:t>
            </a:r>
            <a:endParaRPr sz="1600"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34BFB1-1732-6AA8-499C-16BCB107B446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Next action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Personalize this retrospective and contribute the final section to the team deck.</a:t>
            </a:r>
            <a:endParaRPr sz="1600"/>
          </a:p>
        </p:txBody>
      </p:sp>
      <p:sp>
        <p:nvSpPr>
          <p:cNvPr id="2" name="Google Shape;303;p29">
            <a:extLst xmlns:a="http://schemas.openxmlformats.org/drawingml/2006/main">
              <a:ext uri="{FF2B5EF4-FFF2-40B4-BE49-F238E27FC236}">
                <a16:creationId xmlns:a16="http://schemas.microsoft.com/office/drawing/2014/main" id="{5A63C565-27C7-B453-570C-D6DDD0BF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58" y="2759697"/>
            <a:ext cx="230437" cy="256014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Google Shape;304;p29">
            <a:extLst xmlns:a="http://schemas.openxmlformats.org/drawingml/2006/main">
              <a:ext uri="{FF2B5EF4-FFF2-40B4-BE49-F238E27FC236}">
                <a16:creationId xmlns:a16="http://schemas.microsoft.com/office/drawing/2014/main" id="{2E71F363-4565-783C-7D45-A77673EF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459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  <a:moveTo>
                  <a:pt x="10800" y="2160"/>
                </a:moveTo>
                <a:cubicBezTo>
                  <a:pt x="15572" y="2160"/>
                  <a:pt x="19440" y="6028"/>
                  <a:pt x="19440" y="10800"/>
                </a:cubicBezTo>
                <a:cubicBezTo>
                  <a:pt x="19440" y="15572"/>
                  <a:pt x="15572" y="19440"/>
                  <a:pt x="10800" y="19440"/>
                </a:cubicBezTo>
                <a:cubicBezTo>
                  <a:pt x="6028" y="19440"/>
                  <a:pt x="2160" y="15572"/>
                  <a:pt x="2160" y="10800"/>
                </a:cubicBezTo>
                <a:cubicBezTo>
                  <a:pt x="2160" y="6028"/>
                  <a:pt x="6028" y="2160"/>
                  <a:pt x="10800" y="2160"/>
                </a:cubicBezTo>
                <a:close/>
                <a:moveTo>
                  <a:pt x="6649" y="12960"/>
                </a:moveTo>
                <a:cubicBezTo>
                  <a:pt x="6375" y="12921"/>
                  <a:pt x="6077" y="12983"/>
                  <a:pt x="5839" y="13162"/>
                </a:cubicBezTo>
                <a:cubicBezTo>
                  <a:pt x="5362" y="13521"/>
                  <a:pt x="5278" y="14204"/>
                  <a:pt x="5636" y="14681"/>
                </a:cubicBezTo>
                <a:cubicBezTo>
                  <a:pt x="8197" y="18089"/>
                  <a:pt x="13437" y="18089"/>
                  <a:pt x="15997" y="14681"/>
                </a:cubicBezTo>
                <a:cubicBezTo>
                  <a:pt x="16356" y="14204"/>
                  <a:pt x="16272" y="13521"/>
                  <a:pt x="15795" y="13162"/>
                </a:cubicBezTo>
                <a:cubicBezTo>
                  <a:pt x="15318" y="12804"/>
                  <a:pt x="14635" y="12888"/>
                  <a:pt x="14276" y="13365"/>
                </a:cubicBezTo>
                <a:cubicBezTo>
                  <a:pt x="12580" y="15623"/>
                  <a:pt x="9054" y="15623"/>
                  <a:pt x="7357" y="13365"/>
                </a:cubicBezTo>
                <a:cubicBezTo>
                  <a:pt x="7178" y="13127"/>
                  <a:pt x="6922" y="12999"/>
                  <a:pt x="6649" y="129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Google Shape;305;p29">
            <a:extLst xmlns:a="http://schemas.openxmlformats.org/drawingml/2006/main">
              <a:ext uri="{FF2B5EF4-FFF2-40B4-BE49-F238E27FC236}">
                <a16:creationId xmlns:a16="http://schemas.microsoft.com/office/drawing/2014/main" id="{5B7D18E2-4EB1-E52F-2BE9-AE2714DA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08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784" y="2163"/>
                </a:moveTo>
                <a:cubicBezTo>
                  <a:pt x="10772" y="2167"/>
                  <a:pt x="10749" y="2175"/>
                  <a:pt x="10715" y="2196"/>
                </a:cubicBezTo>
                <a:cubicBezTo>
                  <a:pt x="10574" y="2281"/>
                  <a:pt x="10340" y="2510"/>
                  <a:pt x="10071" y="2999"/>
                </a:cubicBezTo>
                <a:cubicBezTo>
                  <a:pt x="9811" y="3472"/>
                  <a:pt x="9560" y="4109"/>
                  <a:pt x="9344" y="4895"/>
                </a:cubicBezTo>
                <a:cubicBezTo>
                  <a:pt x="8980" y="6213"/>
                  <a:pt x="8731" y="7875"/>
                  <a:pt x="8661" y="9720"/>
                </a:cubicBezTo>
                <a:lnTo>
                  <a:pt x="12939" y="9720"/>
                </a:lnTo>
                <a:cubicBezTo>
                  <a:pt x="12869" y="7875"/>
                  <a:pt x="12620" y="6213"/>
                  <a:pt x="12256" y="4895"/>
                </a:cubicBezTo>
                <a:cubicBezTo>
                  <a:pt x="12040" y="4109"/>
                  <a:pt x="11789" y="3472"/>
                  <a:pt x="11529" y="2999"/>
                </a:cubicBezTo>
                <a:cubicBezTo>
                  <a:pt x="11260" y="2510"/>
                  <a:pt x="11026" y="2281"/>
                  <a:pt x="10885" y="2196"/>
                </a:cubicBezTo>
                <a:cubicBezTo>
                  <a:pt x="10851" y="2175"/>
                  <a:pt x="10828" y="2167"/>
                  <a:pt x="10816" y="2163"/>
                </a:cubicBezTo>
                <a:cubicBezTo>
                  <a:pt x="10807" y="2161"/>
                  <a:pt x="10801" y="2160"/>
                  <a:pt x="10800" y="2160"/>
                </a:cubicBezTo>
                <a:cubicBezTo>
                  <a:pt x="10798" y="2160"/>
                  <a:pt x="10793" y="2161"/>
                  <a:pt x="10784" y="2163"/>
                </a:cubicBezTo>
                <a:close/>
                <a:moveTo>
                  <a:pt x="6499" y="9720"/>
                </a:moveTo>
                <a:cubicBezTo>
                  <a:pt x="6571" y="7704"/>
                  <a:pt x="6841" y="5845"/>
                  <a:pt x="7261" y="4321"/>
                </a:cubicBezTo>
                <a:cubicBezTo>
                  <a:pt x="7424" y="3732"/>
                  <a:pt x="7611" y="3182"/>
                  <a:pt x="7825" y="2686"/>
                </a:cubicBezTo>
                <a:cubicBezTo>
                  <a:pt x="4843" y="3779"/>
                  <a:pt x="2632" y="6469"/>
                  <a:pt x="2227" y="9720"/>
                </a:cubicBezTo>
                <a:lnTo>
                  <a:pt x="6499" y="9720"/>
                </a:lnTo>
                <a:close/>
                <a:moveTo>
                  <a:pt x="2227" y="11880"/>
                </a:moveTo>
                <a:lnTo>
                  <a:pt x="6499" y="11880"/>
                </a:lnTo>
                <a:cubicBezTo>
                  <a:pt x="6582" y="14228"/>
                  <a:pt x="6936" y="16368"/>
                  <a:pt x="7484" y="18014"/>
                </a:cubicBezTo>
                <a:cubicBezTo>
                  <a:pt x="7589" y="18327"/>
                  <a:pt x="7702" y="18628"/>
                  <a:pt x="7825" y="18914"/>
                </a:cubicBezTo>
                <a:cubicBezTo>
                  <a:pt x="4843" y="17821"/>
                  <a:pt x="2632" y="15131"/>
                  <a:pt x="2227" y="11880"/>
                </a:cubicBezTo>
                <a:close/>
                <a:moveTo>
                  <a:pt x="8661" y="11880"/>
                </a:moveTo>
                <a:cubicBezTo>
                  <a:pt x="8743" y="14037"/>
                  <a:pt x="9069" y="15938"/>
                  <a:pt x="9534" y="17332"/>
                </a:cubicBezTo>
                <a:cubicBezTo>
                  <a:pt x="9806" y="18148"/>
                  <a:pt x="10106" y="18732"/>
                  <a:pt x="10387" y="19088"/>
                </a:cubicBezTo>
                <a:cubicBezTo>
                  <a:pt x="10525" y="19263"/>
                  <a:pt x="10637" y="19356"/>
                  <a:pt x="10712" y="19402"/>
                </a:cubicBezTo>
                <a:cubicBezTo>
                  <a:pt x="10748" y="19424"/>
                  <a:pt x="10771" y="19434"/>
                  <a:pt x="10783" y="19437"/>
                </a:cubicBezTo>
                <a:cubicBezTo>
                  <a:pt x="10794" y="19440"/>
                  <a:pt x="10800" y="19440"/>
                  <a:pt x="10800" y="19440"/>
                </a:cubicBezTo>
                <a:cubicBezTo>
                  <a:pt x="10800" y="19440"/>
                  <a:pt x="10805" y="19440"/>
                  <a:pt x="10817" y="19437"/>
                </a:cubicBezTo>
                <a:cubicBezTo>
                  <a:pt x="10829" y="19434"/>
                  <a:pt x="10852" y="19424"/>
                  <a:pt x="10888" y="19402"/>
                </a:cubicBezTo>
                <a:cubicBezTo>
                  <a:pt x="10963" y="19356"/>
                  <a:pt x="11075" y="19263"/>
                  <a:pt x="11213" y="19088"/>
                </a:cubicBezTo>
                <a:cubicBezTo>
                  <a:pt x="11494" y="18732"/>
                  <a:pt x="11794" y="18148"/>
                  <a:pt x="12066" y="17332"/>
                </a:cubicBezTo>
                <a:cubicBezTo>
                  <a:pt x="12531" y="15938"/>
                  <a:pt x="12857" y="14037"/>
                  <a:pt x="12939" y="11880"/>
                </a:cubicBezTo>
                <a:lnTo>
                  <a:pt x="8661" y="11880"/>
                </a:lnTo>
                <a:close/>
                <a:moveTo>
                  <a:pt x="15101" y="11880"/>
                </a:moveTo>
                <a:cubicBezTo>
                  <a:pt x="15018" y="14228"/>
                  <a:pt x="14664" y="16368"/>
                  <a:pt x="14116" y="18014"/>
                </a:cubicBezTo>
                <a:cubicBezTo>
                  <a:pt x="14011" y="18327"/>
                  <a:pt x="13898" y="18628"/>
                  <a:pt x="13775" y="18914"/>
                </a:cubicBezTo>
                <a:cubicBezTo>
                  <a:pt x="16757" y="17821"/>
                  <a:pt x="18968" y="15131"/>
                  <a:pt x="19373" y="11880"/>
                </a:cubicBezTo>
                <a:lnTo>
                  <a:pt x="15101" y="11880"/>
                </a:lnTo>
                <a:close/>
                <a:moveTo>
                  <a:pt x="19373" y="9720"/>
                </a:moveTo>
                <a:cubicBezTo>
                  <a:pt x="18968" y="6469"/>
                  <a:pt x="16757" y="3779"/>
                  <a:pt x="13775" y="2686"/>
                </a:cubicBezTo>
                <a:cubicBezTo>
                  <a:pt x="13989" y="3182"/>
                  <a:pt x="14176" y="3732"/>
                  <a:pt x="14339" y="4321"/>
                </a:cubicBezTo>
                <a:cubicBezTo>
                  <a:pt x="14759" y="5845"/>
                  <a:pt x="15029" y="7704"/>
                  <a:pt x="15101" y="9720"/>
                </a:cubicBezTo>
                <a:lnTo>
                  <a:pt x="19373" y="97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7B27847-7526-0A76-DFBA-302A5A76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37594"/>
            <a:ext cx="11404599" cy="10474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evidence describes this owned synthetic lab. Its measurements do not establish production safety or represent customer outcomes.</a:t>
            </a:r>
          </a:p>
        </p:txBody>
      </p:sp>
      <p:sp>
        <p:nvSpPr>
          <p:cNvPr id="15" name="Slide Number Placeholder 14">
            <a:extLst xmlns:a="http://schemas.openxmlformats.org/drawingml/2006/main">
              <a:ext uri="{FF2B5EF4-FFF2-40B4-BE49-F238E27FC236}">
                <a16:creationId xmlns:a16="http://schemas.microsoft.com/office/drawing/2014/main" id="{3EC570A5-080B-09FC-753D-21568175A1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7563682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Per-category model results</a:t>
            </a:r>
            <a:endParaRPr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21193"/>
            <a:ext cx="11404599" cy="10485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Actual local model runs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 = required source IDs recovered. G = answer rubric passed. Each category contains ten questions. Errors count as failed G.</a:t>
            </a: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Category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Base R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Base G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Fixed R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Fixed G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easy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synthesis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conflict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stale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8/10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must refuse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All cases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30/50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15/50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50/50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38/50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Execution errors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Model / scope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Qwen2.5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0.5B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Synthetic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Local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F440A81-02FE-A94E-7F97-15248A945F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FDA44ED-2B2F-C105-7D7D-E4658177E04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ABCF34BB-5640-4672-FD7F-6F84F74645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Recorded evidence replay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C46137E5-AEE5-3117-B65E-F6CB8896FBD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78194EC-C78C-2EFE-6956-F359C5D3CE6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598689-54C9-18A7-3A19-ED76AA08988F}" type="slidenum">
              <a:rPr sz="11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FBD9FB5-CEB1-DE74-508A-B8814A28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9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47231-C2F2-D9AD-E93B-483C88B8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29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0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A8EF0B-1ADC-C26F-1C3D-74146720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pic>
        <p:nvPicPr>
          <p:cNvPr id="5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5f9a7f16cd48ed"/>
          <a:stretch xmlns:a="http://schemas.openxmlformats.org/drawingml/2006/main"/>
        </p:blipFill>
        <p:spPr>
          <a:xfrm xmlns:a="http://schemas.openxmlformats.org/drawingml/2006/main">
            <a:off x="1143000" y="1047750"/>
            <a:ext cx="9906000" cy="5572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05710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2026-09-13T22:05:56.5300000Z</dcterms:created>
  <dcterms:modified xsi:type="dcterms:W3CDTF">2026-09-13T22:05:56.5300000Z</dcterms:modified>
</coreProperties>
</file>